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panose="020B0604020202020204"/>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panose="020B0604020202020204"/>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panose="020B0604020202020204"/>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48117" y="2000942"/>
            <a:ext cx="7774845" cy="2100412"/>
          </a:xfrm>
        </p:spPr>
        <p:txBody>
          <a:bodyPr>
            <a:normAutofit/>
          </a:bodyPr>
          <a:lstStyle/>
          <a:p>
            <a:r>
              <a:rPr lang="en-US" sz="6000" b="1" dirty="0"/>
              <a:t>RBL PRESENTATION</a:t>
            </a:r>
            <a:endParaRPr lang="en-US" sz="6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Us:</a:t>
            </a:r>
            <a:endParaRPr lang="en-US" dirty="0"/>
          </a:p>
        </p:txBody>
      </p:sp>
      <p:graphicFrame>
        <p:nvGraphicFramePr>
          <p:cNvPr id="4" name="Content Placeholder 3"/>
          <p:cNvGraphicFramePr>
            <a:graphicFrameLocks noGrp="1"/>
          </p:cNvGraphicFramePr>
          <p:nvPr>
            <p:ph idx="1"/>
          </p:nvPr>
        </p:nvGraphicFramePr>
        <p:xfrm>
          <a:off x="685800" y="2141538"/>
          <a:ext cx="6754282" cy="1874520"/>
        </p:xfrm>
        <a:graphic>
          <a:graphicData uri="http://schemas.openxmlformats.org/drawingml/2006/table">
            <a:tbl>
              <a:tblPr firstRow="1" bandRow="1">
                <a:tableStyleId>{5C22544A-7EE6-4342-B048-85BDC9FD1C3A}</a:tableStyleId>
              </a:tblPr>
              <a:tblGrid>
                <a:gridCol w="3377141"/>
                <a:gridCol w="3377141"/>
              </a:tblGrid>
              <a:tr h="624840">
                <a:tc>
                  <a:txBody>
                    <a:bodyPr/>
                    <a:lstStyle/>
                    <a:p>
                      <a:r>
                        <a:rPr lang="en-US" dirty="0"/>
                        <a:t>NAME</a:t>
                      </a:r>
                      <a:endParaRPr lang="en-US" dirty="0"/>
                    </a:p>
                  </a:txBody>
                  <a:tcPr/>
                </a:tc>
                <a:tc>
                  <a:txBody>
                    <a:bodyPr/>
                    <a:lstStyle/>
                    <a:p>
                      <a:r>
                        <a:rPr lang="en-US" dirty="0"/>
                        <a:t>ROLL NO</a:t>
                      </a:r>
                      <a:endParaRPr lang="en-US" dirty="0"/>
                    </a:p>
                  </a:txBody>
                  <a:tcPr/>
                </a:tc>
              </a:tr>
              <a:tr h="624840">
                <a:tc>
                  <a:txBody>
                    <a:bodyPr/>
                    <a:lstStyle/>
                    <a:p>
                      <a:r>
                        <a:rPr lang="en-US" dirty="0" err="1"/>
                        <a:t>G.Sai</a:t>
                      </a:r>
                      <a:r>
                        <a:rPr lang="en-US" dirty="0"/>
                        <a:t> </a:t>
                      </a:r>
                      <a:r>
                        <a:rPr lang="en-US" dirty="0" err="1"/>
                        <a:t>Ashmit</a:t>
                      </a:r>
                      <a:r>
                        <a:rPr lang="en-US" dirty="0"/>
                        <a:t> Reddy </a:t>
                      </a:r>
                      <a:endParaRPr lang="en-US" dirty="0"/>
                    </a:p>
                  </a:txBody>
                  <a:tcPr/>
                </a:tc>
                <a:tc>
                  <a:txBody>
                    <a:bodyPr/>
                    <a:lstStyle/>
                    <a:p>
                      <a:r>
                        <a:rPr lang="en-US" dirty="0"/>
                        <a:t>21951A3332</a:t>
                      </a:r>
                      <a:endParaRPr lang="en-US" dirty="0"/>
                    </a:p>
                  </a:txBody>
                  <a:tcPr/>
                </a:tc>
              </a:tr>
              <a:tr h="624840">
                <a:tc>
                  <a:txBody>
                    <a:bodyPr/>
                    <a:lstStyle/>
                    <a:p>
                      <a:r>
                        <a:rPr lang="en-US" dirty="0" err="1"/>
                        <a:t>B.Karthik</a:t>
                      </a:r>
                      <a:r>
                        <a:rPr lang="en-US" dirty="0"/>
                        <a:t> Varma</a:t>
                      </a:r>
                      <a:endParaRPr lang="en-US" dirty="0"/>
                    </a:p>
                  </a:txBody>
                  <a:tcPr/>
                </a:tc>
                <a:tc>
                  <a:txBody>
                    <a:bodyPr/>
                    <a:lstStyle/>
                    <a:p>
                      <a:r>
                        <a:rPr lang="en-US" dirty="0"/>
                        <a:t>21951A3312</a:t>
                      </a:r>
                      <a:endParaRPr lang="en-US" dirty="0"/>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31" y="1309255"/>
            <a:ext cx="6844231" cy="1456267"/>
          </a:xfrm>
        </p:spPr>
        <p:txBody>
          <a:bodyPr>
            <a:normAutofit/>
          </a:bodyPr>
          <a:lstStyle/>
          <a:p>
            <a:r>
              <a:rPr lang="en-US" sz="4800" dirty="0"/>
              <a:t>Project name</a:t>
            </a:r>
            <a:endParaRPr lang="en-US" sz="4800" dirty="0"/>
          </a:p>
        </p:txBody>
      </p:sp>
      <p:sp>
        <p:nvSpPr>
          <p:cNvPr id="3" name="Content Placeholder 2"/>
          <p:cNvSpPr>
            <a:spLocks noGrp="1"/>
          </p:cNvSpPr>
          <p:nvPr>
            <p:ph idx="1"/>
          </p:nvPr>
        </p:nvSpPr>
        <p:spPr>
          <a:xfrm>
            <a:off x="1542336" y="2617739"/>
            <a:ext cx="9107327" cy="1622522"/>
          </a:xfrm>
        </p:spPr>
        <p:txBody>
          <a:bodyPr>
            <a:normAutofit/>
          </a:bodyPr>
          <a:lstStyle/>
          <a:p>
            <a:pPr marL="0" indent="0">
              <a:buNone/>
            </a:pPr>
            <a:r>
              <a:rPr lang="en-US" sz="4000" dirty="0"/>
              <a:t>Spam Detection Using Count </a:t>
            </a:r>
            <a:r>
              <a:rPr lang="en-US" sz="4000" dirty="0" err="1"/>
              <a:t>vectorizer</a:t>
            </a:r>
            <a:endParaRPr lang="en-US"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2117" y="719623"/>
            <a:ext cx="10131425" cy="533400"/>
          </a:xfrm>
        </p:spPr>
        <p:txBody>
          <a:bodyPr>
            <a:normAutofit fontScale="90000"/>
          </a:bodyPr>
          <a:lstStyle/>
          <a:p>
            <a:r>
              <a:rPr lang="en-US" b="1" dirty="0"/>
              <a:t>Abstract:</a:t>
            </a:r>
            <a:endParaRPr lang="en-US" b="1" dirty="0"/>
          </a:p>
        </p:txBody>
      </p:sp>
      <p:sp>
        <p:nvSpPr>
          <p:cNvPr id="3" name="Content Placeholder 2"/>
          <p:cNvSpPr>
            <a:spLocks noGrp="1"/>
          </p:cNvSpPr>
          <p:nvPr>
            <p:ph idx="1"/>
          </p:nvPr>
        </p:nvSpPr>
        <p:spPr>
          <a:xfrm>
            <a:off x="1112117" y="1919261"/>
            <a:ext cx="9705109" cy="5060985"/>
          </a:xfrm>
        </p:spPr>
        <p:txBody>
          <a:bodyPr/>
          <a:lstStyle/>
          <a:p>
            <a:pPr marL="0" indent="0">
              <a:buNone/>
            </a:pPr>
            <a:r>
              <a:rPr lang="en-US" sz="2400" dirty="0"/>
              <a:t>1. Introduction to Spam Emails:
   - Definition and prevalence in digital communication.
   - Risks to individuals and organizations.</a:t>
            </a:r>
            <a:endParaRPr lang="en-US" sz="2400" dirty="0"/>
          </a:p>
          <a:p>
            <a:pPr marL="0" indent="0">
              <a:buNone/>
            </a:pPr>
            <a:r>
              <a:rPr lang="en-US" sz="2400" dirty="0"/>
              <a:t>2. Machine Learning for Spam Detection:
   - Use of ML techniques for automatic classification.
   - Focus on distinguishing between spam and legitimate (ham) emails.</a:t>
            </a:r>
            <a:endParaRPr lang="en-US" sz="2400" dirty="0"/>
          </a:p>
          <a:p>
            <a:pPr marL="0" indent="0">
              <a:buNone/>
            </a:pPr>
            <a:r>
              <a:rPr lang="en-US" sz="2400" dirty="0"/>
              <a:t>3. Integration and Deployment:
   - Incorporation of best-performing model into a spam detection system.
   - Real-time email classification as spam or ham.</a:t>
            </a:r>
            <a:endParaRPr lang="en-US" sz="2400" dirty="0"/>
          </a:p>
          <a:p>
            <a:endParaRPr lang="en-US" sz="2400" dirty="0"/>
          </a:p>
          <a:p>
            <a:endParaRPr lang="en-US" sz="2400"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1395" y="158921"/>
            <a:ext cx="10131425" cy="6699079"/>
          </a:xfrm>
        </p:spPr>
        <p:txBody>
          <a:bodyPr>
            <a:normAutofit/>
          </a:bodyPr>
          <a:lstStyle/>
          <a:p>
            <a:pPr marL="0" indent="0">
              <a:buNone/>
            </a:pPr>
            <a:r>
              <a:rPr lang="en-US" sz="2400" dirty="0"/>
              <a:t>4. System Maintenance and Validation:
   - Continuous monitoring and periodic retraining of models.
   - Testing and validation using diverse email samples.
5. Benefits of ML-Based Spam Detection:
   - Enhanced email security.
   - Reduced user inconvenience.
   - Improved productivity in email management.</a:t>
            </a:r>
            <a:endParaRPr lang="en-US" sz="2400" dirty="0"/>
          </a:p>
          <a:p>
            <a:endParaRPr lang="en-US" sz="2400"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0286" y="216421"/>
            <a:ext cx="10131425" cy="1456267"/>
          </a:xfrm>
        </p:spPr>
        <p:txBody>
          <a:bodyPr/>
          <a:lstStyle/>
          <a:p>
            <a:r>
              <a:rPr lang="en-US" b="1" dirty="0"/>
              <a:t>Introduction</a:t>
            </a:r>
            <a:r>
              <a:rPr lang="en-US" dirty="0"/>
              <a:t>:</a:t>
            </a:r>
            <a:endParaRPr lang="en-US" dirty="0"/>
          </a:p>
        </p:txBody>
      </p:sp>
      <p:sp>
        <p:nvSpPr>
          <p:cNvPr id="3" name="Content Placeholder 2"/>
          <p:cNvSpPr>
            <a:spLocks noGrp="1"/>
          </p:cNvSpPr>
          <p:nvPr>
            <p:ph idx="1"/>
          </p:nvPr>
        </p:nvSpPr>
        <p:spPr>
          <a:xfrm>
            <a:off x="852419" y="2530492"/>
            <a:ext cx="10487161" cy="5598867"/>
          </a:xfrm>
        </p:spPr>
        <p:txBody>
          <a:bodyPr>
            <a:normAutofit/>
          </a:bodyPr>
          <a:lstStyle/>
          <a:p>
            <a:pPr marL="342900" indent="-342900">
              <a:buAutoNum type="arabicPeriod"/>
            </a:pPr>
            <a:r>
              <a:rPr lang="en-US" dirty="0"/>
              <a:t>Introduction to Email as a Communication Tool:</a:t>
            </a:r>
            <a:endParaRPr lang="en-US" dirty="0"/>
          </a:p>
          <a:p>
            <a:pPr marL="0" indent="0">
              <a:buNone/>
            </a:pPr>
            <a:r>
              <a:rPr lang="en-US" dirty="0"/>
              <a:t>    - Importance in personal and professional interactions. </a:t>
            </a:r>
            <a:endParaRPr lang="en-US" dirty="0"/>
          </a:p>
          <a:p>
            <a:pPr marL="0" indent="0">
              <a:buNone/>
            </a:pPr>
            <a:r>
              <a:rPr lang="en-US" dirty="0"/>
              <a:t>    - Increasing vulnerability to spam due to its widespread use.</a:t>
            </a:r>
            <a:endParaRPr lang="en-US" dirty="0"/>
          </a:p>
          <a:p>
            <a:pPr marL="0" indent="0">
              <a:buNone/>
            </a:pPr>
            <a:r>
              <a:rPr lang="en-US" dirty="0"/>
              <a:t>2. Challenges Posed by Spam Emails:</a:t>
            </a:r>
            <a:endParaRPr lang="en-US" dirty="0"/>
          </a:p>
          <a:p>
            <a:pPr marL="0" indent="0">
              <a:buNone/>
            </a:pPr>
            <a:r>
              <a:rPr lang="en-US" dirty="0"/>
              <a:t>     -  Inconvenience and information overload.  </a:t>
            </a:r>
            <a:endParaRPr lang="en-US" dirty="0"/>
          </a:p>
          <a:p>
            <a:pPr marL="0" indent="0">
              <a:buNone/>
            </a:pPr>
            <a:r>
              <a:rPr lang="en-US" dirty="0"/>
              <a:t>    -  Security risks like phishing and malware distribution.</a:t>
            </a:r>
            <a:endParaRPr lang="en-US" dirty="0"/>
          </a:p>
          <a:p>
            <a:pPr marL="0" indent="0">
              <a:buNone/>
            </a:pPr>
            <a:r>
              <a:rPr lang="en-US" dirty="0"/>
              <a:t>3. Role of Machine Learning in Spam Detection:
    - Automated classification of emails into spam and legitimate (ham) categories.
    - Ability to learn from labeled data and predict classifications for new messages
 4.   </a:t>
            </a:r>
            <a:r>
              <a:rPr lang="en-US" dirty="0" err="1"/>
              <a:t>CountVectorizer</a:t>
            </a:r>
            <a:r>
              <a:rPr lang="en-US" dirty="0"/>
              <a:t>:
     - Converts text into numerical feature vectors.
     - Captures word frequencies to quantify email content.</a:t>
            </a:r>
            <a:endParaRPr lang="en-US" dirty="0"/>
          </a:p>
          <a:p>
            <a:pPr marL="0" indent="0">
              <a:buNone/>
            </a:pPr>
            <a:endParaRPr lang="en-US" dirty="0"/>
          </a:p>
          <a:p>
            <a:pPr marL="0" indent="0">
              <a:buNone/>
            </a:pPr>
            <a:endParaRPr lang="en-US" dirty="0"/>
          </a:p>
          <a:p>
            <a:pPr>
              <a:buFontTx/>
              <a:buChar char="-"/>
            </a:pPr>
            <a:endParaRPr lang="en-US" dirty="0"/>
          </a:p>
          <a:p>
            <a:pPr>
              <a:buFontTx/>
              <a:buChar char="-"/>
            </a:pPr>
            <a:endParaRPr lang="en-US" dirty="0"/>
          </a:p>
          <a:p>
            <a:pPr marL="342900" indent="-342900">
              <a:buAutoNum type="arabicPeriod"/>
            </a:pPr>
            <a:endParaRPr lang="en-US" dirty="0"/>
          </a:p>
          <a:p>
            <a:pPr marL="342900" indent="-342900">
              <a:buAutoNum type="arabicPeriod"/>
            </a:pPr>
            <a:endParaRPr lang="en-US" dirty="0"/>
          </a:p>
          <a:p>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0272" y="806823"/>
            <a:ext cx="10131425" cy="5644505"/>
          </a:xfrm>
        </p:spPr>
        <p:txBody>
          <a:bodyPr>
            <a:normAutofit fontScale="92500" lnSpcReduction="10000"/>
          </a:bodyPr>
          <a:lstStyle/>
          <a:p>
            <a:pPr marL="0" indent="0">
              <a:buNone/>
            </a:pPr>
            <a:r>
              <a:rPr lang="en-US" sz="2200" dirty="0"/>
              <a:t>5. Implementation of ML-Based Spam Detection System:
   - Dataset Preprocessing:
     - Removal of noise (e.g., stop words, punctuation).
     - Text normalization through stemming.
6. Model Selection and Training:
     - Utilization of supervised learning algorithms (e.g., Naïve Bayes, SVM, ensemble methods).
     - training on features generated by </a:t>
            </a:r>
            <a:r>
              <a:rPr lang="en-US" sz="2200" dirty="0" err="1"/>
              <a:t>CountVectorizer</a:t>
            </a:r>
            <a:r>
              <a:rPr lang="en-US" sz="2200" dirty="0"/>
              <a:t>.
7. System Performance and Adaptability:
   - High accuracy in classifying incoming emails.
   - Capability to adapt to evolving spamming techniques through continuous learning.
</a:t>
            </a:r>
            <a:r>
              <a:rPr lang="en-US" sz="2200"/>
              <a:t>8. </a:t>
            </a:r>
            <a:r>
              <a:rPr lang="en-US" sz="2200" dirty="0"/>
              <a:t>Benefits of ML-Based Approach:</a:t>
            </a:r>
            <a:endParaRPr lang="en-US" sz="2200" dirty="0"/>
          </a:p>
          <a:p>
            <a:pPr marL="0" indent="0">
              <a:buNone/>
            </a:pPr>
            <a:r>
              <a:rPr lang="en-US" sz="2200" dirty="0"/>
              <a:t>   - Enhanced effectiveness over traditional rule-based systems.</a:t>
            </a:r>
            <a:endParaRPr lang="en-US" sz="2200" dirty="0"/>
          </a:p>
          <a:p>
            <a:pPr marL="0" indent="0">
              <a:buNone/>
            </a:pPr>
            <a:r>
              <a:rPr lang="en-US" sz="2200" dirty="0"/>
              <a:t>   - Improved efficiency in detecting and filtering spam emails.</a:t>
            </a:r>
            <a:endParaRPr lang="en-US" sz="2200" dirty="0"/>
          </a:p>
          <a:p>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0286" y="0"/>
            <a:ext cx="10131425" cy="1456267"/>
          </a:xfrm>
        </p:spPr>
        <p:txBody>
          <a:bodyPr/>
          <a:lstStyle/>
          <a:p>
            <a:r>
              <a:rPr lang="en-US" b="1" dirty="0"/>
              <a:t>Methodology</a:t>
            </a:r>
            <a:r>
              <a:rPr lang="en-US" dirty="0"/>
              <a:t>:</a:t>
            </a:r>
            <a:endParaRPr lang="en-US" dirty="0"/>
          </a:p>
        </p:txBody>
      </p:sp>
      <p:sp>
        <p:nvSpPr>
          <p:cNvPr id="5" name="Content Placeholder 4"/>
          <p:cNvSpPr>
            <a:spLocks noGrp="1"/>
          </p:cNvSpPr>
          <p:nvPr>
            <p:ph idx="1"/>
          </p:nvPr>
        </p:nvSpPr>
        <p:spPr>
          <a:xfrm>
            <a:off x="1030287" y="2032294"/>
            <a:ext cx="10131425" cy="3649133"/>
          </a:xfrm>
        </p:spPr>
        <p:txBody>
          <a:bodyPr>
            <a:noAutofit/>
          </a:bodyPr>
          <a:lstStyle/>
          <a:p>
            <a:pPr marL="0" indent="0">
              <a:buNone/>
            </a:pPr>
            <a:r>
              <a:rPr lang="en-US" dirty="0"/>
              <a:t>1. Dataset Collection: 
Collect a labeled dataset of SMS messages, classified as spam or non-spam (ham). The  dataset should cover a wide range of spam messages and represent real-world scenarios. 
2. Dataset Preprocessing: 
Clean the dataset by removing any noise, such as special characters, URLs, or phone numbers. Perform data normalization by converting all text to lowercase and removing unnecessary </a:t>
            </a:r>
            <a:r>
              <a:rPr lang="en-US" dirty="0" err="1"/>
              <a:t>whitespace.Handle</a:t>
            </a:r>
            <a:r>
              <a:rPr lang="en-US" dirty="0"/>
              <a:t> any class imbalance issues by applying techniques like oversampling or </a:t>
            </a:r>
            <a:r>
              <a:rPr lang="en-US" dirty="0" err="1"/>
              <a:t>undersampling</a:t>
            </a:r>
            <a:r>
              <a:rPr lang="en-US" dirty="0"/>
              <a:t>. 
3. Text Representation: 
Convert the preprocessed SMS messages into numerical feature vectors. Common techniques include Count </a:t>
            </a:r>
            <a:r>
              <a:rPr lang="en-US" dirty="0" err="1"/>
              <a:t>Vectorizer</a:t>
            </a:r>
            <a:r>
              <a:rPr lang="en-US" dirty="0"/>
              <a:t>, TF-IDF, or word </a:t>
            </a:r>
            <a:r>
              <a:rPr lang="en-US" dirty="0" err="1"/>
              <a:t>embeddings</a:t>
            </a:r>
            <a:r>
              <a:rPr lang="en-US" dirty="0"/>
              <a:t>. Apply feature extraction methods such as n-grams or character-level encoding to capture relevant patterns in the text. 
4. Model Selection and Training: 
Choose suitable ML algorithms for SMS spam detection, such as Naive Bayes, SVM, Random Forest, or Recurrent Neural Networks (RNNs). Split the dataset into training and testing sets, typically using a ratio such as 70:30 or 80:20, respectively. Train </a:t>
            </a:r>
            <a:r>
              <a:rPr lang="en-US" dirty="0" err="1"/>
              <a:t>theselected</a:t>
            </a:r>
            <a:r>
              <a:rPr lang="en-US" dirty="0"/>
              <a:t> ML models on the training data, utilizing </a:t>
            </a:r>
            <a:r>
              <a:rPr lang="en-US" dirty="0" err="1"/>
              <a:t>thepreprocessed</a:t>
            </a:r>
            <a:r>
              <a:rPr lang="en-US" dirty="0"/>
              <a:t> and represented features.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0287" y="687633"/>
            <a:ext cx="10131425" cy="5678325"/>
          </a:xfrm>
        </p:spPr>
        <p:txBody>
          <a:bodyPr>
            <a:noAutofit/>
          </a:bodyPr>
          <a:lstStyle/>
          <a:p>
            <a:pPr marL="0" indent="0">
              <a:buNone/>
            </a:pPr>
            <a:r>
              <a:rPr lang="en-US" sz="2000" dirty="0"/>
              <a:t>5.Hyperparameter Tuning: 
Perform </a:t>
            </a:r>
            <a:r>
              <a:rPr lang="en-US" sz="2000" dirty="0" err="1"/>
              <a:t>hyperparameter</a:t>
            </a:r>
            <a:r>
              <a:rPr lang="en-US" sz="2000" dirty="0"/>
              <a:t> optimization techniques, such as grid search or randomized 
search, to find the best combination of </a:t>
            </a:r>
            <a:r>
              <a:rPr lang="en-US" sz="2000" dirty="0" err="1"/>
              <a:t>hyperparameters</a:t>
            </a:r>
            <a:r>
              <a:rPr lang="en-US" sz="2000" dirty="0"/>
              <a:t> for each ML model. Fine-tune the 
models based on the evaluation results, aiming to improve their performance. 
6. Deployment and Testing: 
Select the best-performing ML model based on the evaluation metrics. Integrate the 
chosen model into a spam detection system or application for real-time or batch 
processing of SMS messages. Perform thorough testing of the system using various types </a:t>
            </a:r>
            <a:endParaRPr lang="en-US" sz="2000" dirty="0"/>
          </a:p>
          <a:p>
            <a:pPr marL="0" indent="0">
              <a:buNone/>
            </a:pPr>
            <a:r>
              <a:rPr lang="en-US" sz="2000" dirty="0"/>
              <a:t>of SMS messages to validate its effectiveness. </a:t>
            </a:r>
            <a:endParaRPr lang="en-US" sz="2000" dirty="0"/>
          </a:p>
          <a:p>
            <a:pPr marL="0" indent="0">
              <a:buNone/>
            </a:pPr>
            <a:r>
              <a:rPr lang="en-US" sz="2000" dirty="0"/>
              <a:t>7. Monitoring and Maintenance: 
Continuously monitor the performance of the spam detection system and periodically 
retrain the model with new data to adapt to evolving spamming </a:t>
            </a:r>
            <a:r>
              <a:rPr lang="en-US" sz="2000" dirty="0" err="1"/>
              <a:t>techniques.Stay</a:t>
            </a:r>
            <a:r>
              <a:rPr lang="en-US" sz="2000" dirty="0"/>
              <a:t> updated 
with the latest research and advancements in SMS spam detection to improve the system’s
efficiency over time.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7010" y="271703"/>
            <a:ext cx="10131425" cy="1659783"/>
          </a:xfrm>
        </p:spPr>
        <p:txBody>
          <a:bodyPr/>
          <a:lstStyle/>
          <a:p>
            <a:pPr marL="0" indent="0">
              <a:buNone/>
            </a:pPr>
            <a:r>
              <a:rPr lang="en-US" dirty="0"/>
              <a:t>By following this methodology, an ML-based SMS spam detection system can accurately 
identify and filter out spam messages, improving user experience and reducing the impact 
of unwanted SMS communications</a:t>
            </a:r>
            <a:endParaRPr lang="en-US" dirty="0"/>
          </a:p>
        </p:txBody>
      </p:sp>
      <p:pic>
        <p:nvPicPr>
          <p:cNvPr id="8" name="Picture 7"/>
          <p:cNvPicPr>
            <a:picLocks noChangeAspect="1"/>
          </p:cNvPicPr>
          <p:nvPr/>
        </p:nvPicPr>
        <p:blipFill>
          <a:blip r:embed="rId1"/>
          <a:stretch>
            <a:fillRect/>
          </a:stretch>
        </p:blipFill>
        <p:spPr>
          <a:xfrm>
            <a:off x="2313166" y="1931486"/>
            <a:ext cx="8128000" cy="42629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251" y="-99427"/>
            <a:ext cx="10131425" cy="1456267"/>
          </a:xfrm>
        </p:spPr>
        <p:txBody>
          <a:bodyPr/>
          <a:lstStyle/>
          <a:p>
            <a:r>
              <a:rPr lang="en-US" sz="3200" b="1" dirty="0"/>
              <a:t>Algorithm</a:t>
            </a:r>
            <a:r>
              <a:rPr lang="en-US" dirty="0"/>
              <a:t>:</a:t>
            </a:r>
            <a:endParaRPr lang="en-US" dirty="0"/>
          </a:p>
        </p:txBody>
      </p:sp>
      <p:sp>
        <p:nvSpPr>
          <p:cNvPr id="3" name="Content Placeholder 2"/>
          <p:cNvSpPr>
            <a:spLocks noGrp="1"/>
          </p:cNvSpPr>
          <p:nvPr>
            <p:ph idx="1"/>
          </p:nvPr>
        </p:nvSpPr>
        <p:spPr>
          <a:xfrm>
            <a:off x="1259251" y="1615277"/>
            <a:ext cx="9900381" cy="3627446"/>
          </a:xfrm>
        </p:spPr>
        <p:txBody>
          <a:bodyPr>
            <a:noAutofit/>
          </a:bodyPr>
          <a:lstStyle/>
          <a:p>
            <a:pPr marL="0" indent="0">
              <a:buNone/>
            </a:pPr>
            <a:r>
              <a:rPr lang="en-US" dirty="0"/>
              <a:t>1.Load and preprocess the labeled dataset of spam and non-spam emails. 
2. Split the dataset into training and testing sets. </a:t>
            </a:r>
            <a:endParaRPr lang="en-US" dirty="0"/>
          </a:p>
          <a:p>
            <a:pPr marL="0" indent="0">
              <a:buNone/>
            </a:pPr>
            <a:r>
              <a:rPr lang="en-US" dirty="0"/>
              <a:t>3. Apply a text representation technique (e.g., </a:t>
            </a:r>
            <a:r>
              <a:rPr lang="en-US" dirty="0" err="1"/>
              <a:t>CountVectorizer</a:t>
            </a:r>
            <a:r>
              <a:rPr lang="en-US" dirty="0"/>
              <a:t>) to convert emails into numerical feature vectors.</a:t>
            </a:r>
            <a:endParaRPr lang="en-US" dirty="0"/>
          </a:p>
          <a:p>
            <a:pPr marL="0" indent="0">
              <a:buNone/>
            </a:pPr>
            <a:r>
              <a:rPr lang="en-US" dirty="0"/>
              <a:t>4. Perform additional preprocessing (e.g., removing stop words, stemming) on the 
feature vectors. 
5. Select an ML algorithm (e.g., Naive Bayes, SVM) for training. 
6. Train the ML model on the preprocessed training data as shown in fig.2. 
7. Evaluate the model using appropriate metrics on the testing data. 
8. Perform hyper parameter optimization to fine-tune the model’s performance. 
9. Select the best-performing model based on evaluation results. 
10. Integrate the chosen model into the spam detection system or application for real-time 
or batch processing.</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0287" y="-901858"/>
            <a:ext cx="10131425" cy="3649133"/>
          </a:xfrm>
        </p:spPr>
        <p:txBody>
          <a:bodyPr>
            <a:normAutofit/>
          </a:bodyPr>
          <a:lstStyle/>
          <a:p>
            <a:pPr marL="0" indent="0">
              <a:buNone/>
            </a:pPr>
            <a:r>
              <a:rPr lang="en-US" dirty="0"/>
              <a:t>
11. Continuously monitor the system’s performance and periodically retrain the model 
with updated data. 
12. Test the system extensively with various types of emails to validate its performance 
and effectiveness. 
13. Maintain and update the system regularly to adapt to evolving spamming techniques.</a:t>
            </a:r>
            <a:endParaRPr lang="en-US" dirty="0"/>
          </a:p>
        </p:txBody>
      </p:sp>
      <p:pic>
        <p:nvPicPr>
          <p:cNvPr id="4" name="Picture 3"/>
          <p:cNvPicPr>
            <a:picLocks noChangeAspect="1"/>
          </p:cNvPicPr>
          <p:nvPr/>
        </p:nvPicPr>
        <p:blipFill>
          <a:blip r:embed="rId1"/>
          <a:stretch>
            <a:fillRect/>
          </a:stretch>
        </p:blipFill>
        <p:spPr>
          <a:xfrm>
            <a:off x="2581072" y="2523716"/>
            <a:ext cx="5734050" cy="37909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0287" y="282389"/>
            <a:ext cx="10131425" cy="1456267"/>
          </a:xfrm>
        </p:spPr>
        <p:txBody>
          <a:bodyPr>
            <a:normAutofit/>
          </a:bodyPr>
          <a:lstStyle/>
          <a:p>
            <a:r>
              <a:rPr lang="en-US" sz="2800" b="1" dirty="0"/>
              <a:t>Explanation about Technology used algorithms:</a:t>
            </a:r>
            <a:endParaRPr lang="en-US" sz="2800" b="1" dirty="0"/>
          </a:p>
        </p:txBody>
      </p:sp>
      <p:sp>
        <p:nvSpPr>
          <p:cNvPr id="3" name="Content Placeholder 2"/>
          <p:cNvSpPr>
            <a:spLocks noGrp="1"/>
          </p:cNvSpPr>
          <p:nvPr>
            <p:ph idx="1"/>
          </p:nvPr>
        </p:nvSpPr>
        <p:spPr>
          <a:xfrm>
            <a:off x="1030287" y="3550566"/>
            <a:ext cx="11396177" cy="336855"/>
          </a:xfrm>
        </p:spPr>
        <p:txBody>
          <a:bodyPr>
            <a:noAutofit/>
          </a:bodyPr>
          <a:lstStyle/>
          <a:p>
            <a:pPr marL="0" indent="0">
              <a:buNone/>
            </a:pPr>
            <a:r>
              <a:rPr lang="en-US" dirty="0" err="1"/>
              <a:t>Countvectorizer</a:t>
            </a:r>
            <a:r>
              <a:rPr lang="en-US" sz="1600" dirty="0"/>
              <a:t>: 
Simply creates a Bag of words. In Bag of words, all the words in the Vocabulary go along columns and documents go along rows. Each row depicts one message. Then we </a:t>
            </a:r>
            <a:r>
              <a:rPr lang="en-US" sz="1600" dirty="0" err="1"/>
              <a:t>are simply</a:t>
            </a:r>
            <a:r>
              <a:rPr lang="en-US" sz="1600" dirty="0"/>
              <a:t> splitting our data into training and testing data. 
</a:t>
            </a:r>
            <a:r>
              <a:rPr lang="en-US" dirty="0"/>
              <a:t>Multinomial Naive Bayes Algorithm: </a:t>
            </a:r>
            <a:r>
              <a:rPr lang="en-US" sz="1600" dirty="0"/>
              <a:t>
Multinomial Naive Bayes algorithm is a probabilistic learning method that is mostly used in Natural Language Processing (NLP). The algorithm is based on the Bayes theorem and Predicts the tag of a text such as a piece of email or newspaper article. It calculates the Probability of each tag for a given sample and then gives the tag with the highest probability as output. Bayes theorem, formulated by Thomas Bayes, calculates the probability of an event occurring based on the prior knowledge of conditions related to an event. It is based on the following formula: </a:t>
            </a:r>
            <a:endParaRPr lang="en-US" sz="1600" dirty="0"/>
          </a:p>
          <a:p>
            <a:pPr marL="0" indent="0">
              <a:buNone/>
            </a:pPr>
            <a:r>
              <a:rPr lang="en-US" sz="1600" dirty="0"/>
              <a:t>P(A|B) = P(A) * P(B|A)/P(B)</a:t>
            </a:r>
            <a:endParaRPr lang="en-US" sz="1600" dirty="0"/>
          </a:p>
          <a:p>
            <a:pPr marL="0" indent="0">
              <a:buNone/>
            </a:pPr>
            <a:r>
              <a:rPr lang="en-US" sz="1600" dirty="0"/>
              <a:t>Where we are calculating the probability of class A when predictor B is already provided. 
P(B) = prior probability of B 
P(A) = prior probability of class A 
P(B|A) = occurrence of predictor B given class A probability</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946" y="0"/>
            <a:ext cx="10131425" cy="1456267"/>
          </a:xfrm>
        </p:spPr>
        <p:txBody>
          <a:bodyPr>
            <a:normAutofit/>
          </a:bodyPr>
          <a:lstStyle/>
          <a:p>
            <a:r>
              <a:rPr lang="en-US" sz="2000" b="1" dirty="0"/>
              <a:t>Explanation about system considered / data taken / real time system you are working for the project</a:t>
            </a:r>
            <a:endParaRPr lang="en-US" sz="2000" b="1" dirty="0"/>
          </a:p>
        </p:txBody>
      </p:sp>
      <p:sp>
        <p:nvSpPr>
          <p:cNvPr id="3" name="Content Placeholder 2"/>
          <p:cNvSpPr>
            <a:spLocks noGrp="1"/>
          </p:cNvSpPr>
          <p:nvPr>
            <p:ph idx="1"/>
          </p:nvPr>
        </p:nvSpPr>
        <p:spPr>
          <a:xfrm>
            <a:off x="1030287" y="2032045"/>
            <a:ext cx="10131425" cy="3649133"/>
          </a:xfrm>
        </p:spPr>
        <p:txBody>
          <a:bodyPr>
            <a:noAutofit/>
          </a:bodyPr>
          <a:lstStyle/>
          <a:p>
            <a:pPr marL="0" indent="0">
              <a:buNone/>
            </a:pPr>
            <a:r>
              <a:rPr lang="en-US" sz="1400" dirty="0"/>
              <a:t>1. Input: 
The input to the system is an email or a collection of emails that need to be classified as either spam or non-spam (ham). 
2. Preprocessing Module: 
This module is responsible for cleaning and preparing the input data before feeding it into the ML model. It includes steps such as removing noise (HTML tags, special characters), tokenization, removing stop words, and performing stemming or lemmatization. 
3. Feature Extraction: 
In this step, the preprocessed email text is transformed into numerical feature vectors using techniques like </a:t>
            </a:r>
            <a:r>
              <a:rPr lang="en-US" sz="1400" dirty="0" err="1"/>
              <a:t>CountVectorizer</a:t>
            </a:r>
            <a:r>
              <a:rPr lang="en-US" sz="1400" dirty="0"/>
              <a:t>, TF-IDF, or word </a:t>
            </a:r>
            <a:r>
              <a:rPr lang="en-US" sz="1400" dirty="0" err="1"/>
              <a:t>embeddings</a:t>
            </a:r>
            <a:r>
              <a:rPr lang="en-US" sz="1400" dirty="0"/>
              <a:t>. This allows the ML model to understand and analyze the text. 
4. Machine Learning Model: 
The ML model is trained on a labeled dataset of spam and non-spam emails using supervised learning algorithms such as Naïve Bayes, Support Vector Machines (SVM), Random Forest, or Gradient Boosting. The model learns patterns and characteristics of spam emails from the training data. 
5. Model Evaluation: 
The trained model is evaluated using a separate testing dataset to measure its performance. Evaluation metrics such as accuracy, precision, recall, F1-score, and ROC curve are calculated to assess the model’s effectiveness in spam detection. 
6. </a:t>
            </a:r>
            <a:r>
              <a:rPr lang="en-US" sz="1400" dirty="0" err="1"/>
              <a:t>Hyperparameter</a:t>
            </a:r>
            <a:r>
              <a:rPr lang="en-US" sz="1400" dirty="0"/>
              <a:t> Tuning: 
</a:t>
            </a:r>
            <a:r>
              <a:rPr lang="en-US" sz="1400" dirty="0" err="1"/>
              <a:t>Hyperparameters</a:t>
            </a:r>
            <a:r>
              <a:rPr lang="en-US" sz="1400" dirty="0"/>
              <a:t> of the ML model are optimized to improve its performance. Techniques like grid search or randomized search are commonly used to find the best combination of </a:t>
            </a:r>
            <a:r>
              <a:rPr lang="en-US" sz="1400" dirty="0" err="1"/>
              <a:t>hyperparameters</a:t>
            </a:r>
            <a:r>
              <a:rPr lang="en-US" sz="1400" dirty="0"/>
              <a: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0286" y="-147614"/>
            <a:ext cx="10131425" cy="1917769"/>
          </a:xfrm>
        </p:spPr>
        <p:txBody>
          <a:bodyPr/>
          <a:lstStyle/>
          <a:p>
            <a:r>
              <a:rPr lang="en-US" b="1" dirty="0"/>
              <a:t>DATA TAKEN:</a:t>
            </a:r>
            <a:endParaRPr lang="en-US" b="1" dirty="0"/>
          </a:p>
        </p:txBody>
      </p:sp>
      <p:sp>
        <p:nvSpPr>
          <p:cNvPr id="3" name="Content Placeholder 2"/>
          <p:cNvSpPr>
            <a:spLocks noGrp="1"/>
          </p:cNvSpPr>
          <p:nvPr>
            <p:ph idx="1"/>
          </p:nvPr>
        </p:nvSpPr>
        <p:spPr>
          <a:xfrm>
            <a:off x="1030287" y="-1746577"/>
            <a:ext cx="10131425" cy="6769168"/>
          </a:xfrm>
        </p:spPr>
        <p:txBody>
          <a:bodyPr/>
          <a:lstStyle/>
          <a:p>
            <a:pPr marL="0" indent="0">
              <a:buNone/>
            </a:pPr>
            <a:r>
              <a:rPr lang="en-US" dirty="0"/>
              <a:t>One of the primary methods for spam mail detection is email filtering. It Involves categorize incoming emails into spam and non –spam, Machine Learning algorithm can be trained to filter out spam mails based on them Content and metadata as shown in fig.3.</a:t>
            </a:r>
            <a:endParaRPr lang="en-US" dirty="0"/>
          </a:p>
        </p:txBody>
      </p:sp>
      <p:pic>
        <p:nvPicPr>
          <p:cNvPr id="5" name="Picture 4"/>
          <p:cNvPicPr>
            <a:picLocks noChangeAspect="1"/>
          </p:cNvPicPr>
          <p:nvPr/>
        </p:nvPicPr>
        <p:blipFill>
          <a:blip r:embed="rId1"/>
          <a:stretch>
            <a:fillRect/>
          </a:stretch>
        </p:blipFill>
        <p:spPr>
          <a:xfrm>
            <a:off x="1225176" y="2314769"/>
            <a:ext cx="8128000" cy="38545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1306" y="268941"/>
            <a:ext cx="10131425" cy="1503626"/>
          </a:xfrm>
        </p:spPr>
        <p:txBody>
          <a:bodyPr/>
          <a:lstStyle/>
          <a:p>
            <a:r>
              <a:rPr lang="en-US" b="1" dirty="0"/>
              <a:t>Results</a:t>
            </a:r>
            <a:r>
              <a:rPr lang="en-US" dirty="0"/>
              <a:t>:</a:t>
            </a:r>
            <a:endParaRPr lang="en-US" dirty="0"/>
          </a:p>
        </p:txBody>
      </p:sp>
      <p:pic>
        <p:nvPicPr>
          <p:cNvPr id="4" name="Content Placeholder 3"/>
          <p:cNvPicPr>
            <a:picLocks noGrp="1" noChangeAspect="1"/>
          </p:cNvPicPr>
          <p:nvPr>
            <p:ph idx="1"/>
          </p:nvPr>
        </p:nvPicPr>
        <p:blipFill>
          <a:blip r:embed="rId1"/>
          <a:stretch>
            <a:fillRect/>
          </a:stretch>
        </p:blipFill>
        <p:spPr>
          <a:xfrm>
            <a:off x="1081306" y="1772567"/>
            <a:ext cx="9162908" cy="4324248"/>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1458" y="267400"/>
            <a:ext cx="10131425" cy="1456267"/>
          </a:xfrm>
        </p:spPr>
        <p:txBody>
          <a:bodyPr/>
          <a:lstStyle/>
          <a:p>
            <a:r>
              <a:rPr lang="en-US" b="1" dirty="0"/>
              <a:t>Conclusion</a:t>
            </a:r>
            <a:r>
              <a:rPr lang="en-US" dirty="0"/>
              <a:t>:</a:t>
            </a:r>
            <a:endParaRPr lang="en-US" dirty="0"/>
          </a:p>
        </p:txBody>
      </p:sp>
      <p:sp>
        <p:nvSpPr>
          <p:cNvPr id="3" name="Content Placeholder 2"/>
          <p:cNvSpPr>
            <a:spLocks noGrp="1"/>
          </p:cNvSpPr>
          <p:nvPr>
            <p:ph idx="1"/>
          </p:nvPr>
        </p:nvSpPr>
        <p:spPr>
          <a:xfrm>
            <a:off x="1211458" y="1246909"/>
            <a:ext cx="10131425" cy="5109883"/>
          </a:xfrm>
        </p:spPr>
        <p:txBody>
          <a:bodyPr>
            <a:normAutofit fontScale="40000" lnSpcReduction="20000"/>
          </a:bodyPr>
          <a:lstStyle/>
          <a:p>
            <a:pPr marL="0" indent="0">
              <a:buNone/>
            </a:pPr>
            <a:r>
              <a:rPr lang="en-US" sz="4800" dirty="0"/>
              <a:t>We presented a comprehensive methodology for developing an effective machine learning based</a:t>
            </a:r>
            <a:endParaRPr lang="en-US" sz="4800" dirty="0"/>
          </a:p>
          <a:p>
            <a:pPr marL="0" indent="0">
              <a:buNone/>
            </a:pPr>
            <a:r>
              <a:rPr lang="en-US" sz="4800" dirty="0"/>
              <a:t> SMS spam detection system. Our approach begins with the collection of a labelled dataset</a:t>
            </a:r>
            <a:endParaRPr lang="en-US" sz="4800" dirty="0"/>
          </a:p>
          <a:p>
            <a:pPr marL="0" indent="0">
              <a:buNone/>
            </a:pPr>
            <a:r>
              <a:rPr lang="en-US" sz="4800" dirty="0"/>
              <a:t> representing real-world scenarios, followed by rigorous preprocessing to ensure data cleanliness and</a:t>
            </a:r>
            <a:endParaRPr lang="en-US" sz="4800" dirty="0"/>
          </a:p>
          <a:p>
            <a:pPr marL="0" indent="0">
              <a:buNone/>
            </a:pPr>
            <a:r>
              <a:rPr lang="en-US" sz="4800" dirty="0"/>
              <a:t> balance. We utilized advanced text representation techniques such as Count </a:t>
            </a:r>
            <a:r>
              <a:rPr lang="en-US" sz="4800" dirty="0" err="1"/>
              <a:t>Vectorizer</a:t>
            </a:r>
            <a:r>
              <a:rPr lang="en-US" sz="4800" dirty="0"/>
              <a:t>, TF-IDF, and</a:t>
            </a:r>
            <a:endParaRPr lang="en-US" sz="4800" dirty="0"/>
          </a:p>
          <a:p>
            <a:pPr marL="0" indent="0">
              <a:buNone/>
            </a:pPr>
            <a:r>
              <a:rPr lang="en-US" sz="4800" dirty="0"/>
              <a:t> word </a:t>
            </a:r>
            <a:r>
              <a:rPr lang="en-US" sz="4800" dirty="0" err="1"/>
              <a:t>embeddings</a:t>
            </a:r>
            <a:r>
              <a:rPr lang="en-US" sz="4800" dirty="0"/>
              <a:t> to capture relevant patterns in the text.</a:t>
            </a:r>
            <a:endParaRPr lang="en-US" sz="4800" dirty="0"/>
          </a:p>
          <a:p>
            <a:pPr marL="0" indent="0">
              <a:buNone/>
            </a:pPr>
            <a:r>
              <a:rPr lang="en-US" sz="4800" dirty="0"/>
              <a:t>Various machine learning algorithms, including Naïve Bayes, SVM, Random Forest, and 
RNNs, were evaluated using metrics like accuracy, precision, recall, and F1-score. 
</a:t>
            </a:r>
            <a:r>
              <a:rPr lang="en-US" sz="4800" dirty="0" err="1"/>
              <a:t>Hyperparameter</a:t>
            </a:r>
            <a:r>
              <a:rPr lang="en-US" sz="4800" dirty="0"/>
              <a:t> tuning was performed to optimize model performance. The best-performing 
model was integrated into a spam detection system and extensively tested for real-time or 
batch processing. Continuous monitoring and periodic retraining with new data ensure the 
system adapts to evolving spamming techniques, maintaining its effectiveness over time. 
This iterative methodology demonstrates that an ML-based spam detection system can 
significantly improve user experience by accurately filtering out unwanted messages</a:t>
            </a:r>
            <a:endParaRPr lang="en-US" sz="4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8497" y="2700866"/>
            <a:ext cx="10131425" cy="1456267"/>
          </a:xfrm>
        </p:spPr>
        <p:txBody>
          <a:bodyPr>
            <a:normAutofit/>
          </a:bodyPr>
          <a:lstStyle/>
          <a:p>
            <a:r>
              <a:rPr lang="en-US" sz="8800" dirty="0"/>
              <a:t>Thank you </a:t>
            </a:r>
            <a:endParaRPr lang="en-US" sz="88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9849</Words>
  <Application>WPS Presentation</Application>
  <PresentationFormat>Widescreen</PresentationFormat>
  <Paragraphs>102</Paragraphs>
  <Slides>18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SimSun</vt:lpstr>
      <vt:lpstr>Wingdings</vt:lpstr>
      <vt:lpstr>Arial</vt:lpstr>
      <vt:lpstr>Calibri Light</vt:lpstr>
      <vt:lpstr>Microsoft YaHei</vt:lpstr>
      <vt:lpstr>Arial Unicode MS</vt:lpstr>
      <vt:lpstr>Calibri</vt:lpstr>
      <vt:lpstr>Celestial</vt:lpstr>
      <vt:lpstr>RBL PRESENTATION</vt:lpstr>
      <vt:lpstr>About Us:</vt:lpstr>
      <vt:lpstr>Project name</vt:lpstr>
      <vt:lpstr>Abstract:</vt:lpstr>
      <vt:lpstr>PowerPoint 演示文稿</vt:lpstr>
      <vt:lpstr>Introduction:</vt:lpstr>
      <vt:lpstr>PowerPoint 演示文稿</vt:lpstr>
      <vt:lpstr>Methodology:</vt:lpstr>
      <vt:lpstr>PowerPoint 演示文稿</vt:lpstr>
      <vt:lpstr>PowerPoint 演示文稿</vt:lpstr>
      <vt:lpstr>Algorithm:</vt:lpstr>
      <vt:lpstr>PowerPoint 演示文稿</vt:lpstr>
      <vt:lpstr>Explanation about Technology used algorithms:</vt:lpstr>
      <vt:lpstr>Explanation about system considered / data taken / real time system you are working for the project</vt:lpstr>
      <vt:lpstr>DATA TAKEN:</vt:lpstr>
      <vt:lpstr>Results:</vt:lpstr>
      <vt:lpstr>Conclusion:</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RBL PRESENTATION</dc:title>
  <dc:creator>asrmittapalli@gmail.com</dc:creator>
  <cp:lastModifiedBy>blikh</cp:lastModifiedBy>
  <cp:revision>10</cp:revision>
  <dcterms:created xsi:type="dcterms:W3CDTF">2024-07-17T14:50:00Z</dcterms:created>
  <dcterms:modified xsi:type="dcterms:W3CDTF">2024-07-18T05:51:34Z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3A4687ECC088428BAC77D14B06F367D8_12</vt:lpwstr>
  </property>
  <property fmtid="{D5CDD505-2E9C-101B-9397-08002B2CF9AE}" pid="3" name="KSOProductBuildVer">
    <vt:lpwstr>1033-12.2.0.13472</vt:lpwstr>
  </property>
</Properties>
</file>